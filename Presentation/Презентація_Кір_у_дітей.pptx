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B3D15-DA5B-476B-95CC-BA8EE096832A}" v="3" dt="2026-07-09T14:43:55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g Matvisiv" userId="feedb27e-61fc-49a7-8a39-16ebc3458eaf" providerId="ADAL" clId="{FC028970-D625-467D-9E56-C1AC096FAB21}"/>
    <pc:docChg chg="addSld modSld">
      <pc:chgData name="Oleg Matvisiv" userId="feedb27e-61fc-49a7-8a39-16ebc3458eaf" providerId="ADAL" clId="{FC028970-D625-467D-9E56-C1AC096FAB21}" dt="2026-07-09T14:43:55.622" v="2"/>
      <pc:docMkLst>
        <pc:docMk/>
      </pc:docMkLst>
      <pc:sldChg chg="add">
        <pc:chgData name="Oleg Matvisiv" userId="feedb27e-61fc-49a7-8a39-16ebc3458eaf" providerId="ADAL" clId="{FC028970-D625-467D-9E56-C1AC096FAB21}" dt="2026-07-09T14:43:10.038" v="0"/>
        <pc:sldMkLst>
          <pc:docMk/>
          <pc:sldMk cId="0" sldId="262"/>
        </pc:sldMkLst>
      </pc:sldChg>
      <pc:sldChg chg="add">
        <pc:chgData name="Oleg Matvisiv" userId="feedb27e-61fc-49a7-8a39-16ebc3458eaf" providerId="ADAL" clId="{FC028970-D625-467D-9E56-C1AC096FAB21}" dt="2026-07-09T14:43:10.038" v="0"/>
        <pc:sldMkLst>
          <pc:docMk/>
          <pc:sldMk cId="0" sldId="263"/>
        </pc:sldMkLst>
      </pc:sldChg>
      <pc:sldChg chg="add">
        <pc:chgData name="Oleg Matvisiv" userId="feedb27e-61fc-49a7-8a39-16ebc3458eaf" providerId="ADAL" clId="{FC028970-D625-467D-9E56-C1AC096FAB21}" dt="2026-07-09T14:43:10.038" v="0"/>
        <pc:sldMkLst>
          <pc:docMk/>
          <pc:sldMk cId="0" sldId="264"/>
        </pc:sldMkLst>
      </pc:sldChg>
      <pc:sldChg chg="add">
        <pc:chgData name="Oleg Matvisiv" userId="feedb27e-61fc-49a7-8a39-16ebc3458eaf" providerId="ADAL" clId="{FC028970-D625-467D-9E56-C1AC096FAB21}" dt="2026-07-09T14:43:10.038" v="0"/>
        <pc:sldMkLst>
          <pc:docMk/>
          <pc:sldMk cId="0" sldId="265"/>
        </pc:sldMkLst>
      </pc:sldChg>
      <pc:sldChg chg="add">
        <pc:chgData name="Oleg Matvisiv" userId="feedb27e-61fc-49a7-8a39-16ebc3458eaf" providerId="ADAL" clId="{FC028970-D625-467D-9E56-C1AC096FAB21}" dt="2026-07-09T14:43:10.038" v="0"/>
        <pc:sldMkLst>
          <pc:docMk/>
          <pc:sldMk cId="0" sldId="266"/>
        </pc:sldMkLst>
      </pc:sldChg>
      <pc:sldChg chg="add">
        <pc:chgData name="Oleg Matvisiv" userId="feedb27e-61fc-49a7-8a39-16ebc3458eaf" providerId="ADAL" clId="{FC028970-D625-467D-9E56-C1AC096FAB21}" dt="2026-07-09T14:43:10.038" v="0"/>
        <pc:sldMkLst>
          <pc:docMk/>
          <pc:sldMk cId="0" sldId="267"/>
        </pc:sldMkLst>
      </pc:sldChg>
      <pc:sldChg chg="add">
        <pc:chgData name="Oleg Matvisiv" userId="feedb27e-61fc-49a7-8a39-16ebc3458eaf" providerId="ADAL" clId="{FC028970-D625-467D-9E56-C1AC096FAB21}" dt="2026-07-09T14:43:33.054" v="1"/>
        <pc:sldMkLst>
          <pc:docMk/>
          <pc:sldMk cId="0" sldId="268"/>
        </pc:sldMkLst>
      </pc:sldChg>
      <pc:sldChg chg="add">
        <pc:chgData name="Oleg Matvisiv" userId="feedb27e-61fc-49a7-8a39-16ebc3458eaf" providerId="ADAL" clId="{FC028970-D625-467D-9E56-C1AC096FAB21}" dt="2026-07-09T14:43:33.054" v="1"/>
        <pc:sldMkLst>
          <pc:docMk/>
          <pc:sldMk cId="0" sldId="269"/>
        </pc:sldMkLst>
      </pc:sldChg>
      <pc:sldChg chg="add">
        <pc:chgData name="Oleg Matvisiv" userId="feedb27e-61fc-49a7-8a39-16ebc3458eaf" providerId="ADAL" clId="{FC028970-D625-467D-9E56-C1AC096FAB21}" dt="2026-07-09T14:43:33.054" v="1"/>
        <pc:sldMkLst>
          <pc:docMk/>
          <pc:sldMk cId="0" sldId="270"/>
        </pc:sldMkLst>
      </pc:sldChg>
      <pc:sldChg chg="add">
        <pc:chgData name="Oleg Matvisiv" userId="feedb27e-61fc-49a7-8a39-16ebc3458eaf" providerId="ADAL" clId="{FC028970-D625-467D-9E56-C1AC096FAB21}" dt="2026-07-09T14:43:33.054" v="1"/>
        <pc:sldMkLst>
          <pc:docMk/>
          <pc:sldMk cId="0" sldId="271"/>
        </pc:sldMkLst>
      </pc:sldChg>
      <pc:sldChg chg="add">
        <pc:chgData name="Oleg Matvisiv" userId="feedb27e-61fc-49a7-8a39-16ebc3458eaf" providerId="ADAL" clId="{FC028970-D625-467D-9E56-C1AC096FAB21}" dt="2026-07-09T14:43:33.054" v="1"/>
        <pc:sldMkLst>
          <pc:docMk/>
          <pc:sldMk cId="0" sldId="272"/>
        </pc:sldMkLst>
      </pc:sldChg>
      <pc:sldChg chg="add">
        <pc:chgData name="Oleg Matvisiv" userId="feedb27e-61fc-49a7-8a39-16ebc3458eaf" providerId="ADAL" clId="{FC028970-D625-467D-9E56-C1AC096FAB21}" dt="2026-07-09T14:43:33.054" v="1"/>
        <pc:sldMkLst>
          <pc:docMk/>
          <pc:sldMk cId="0" sldId="273"/>
        </pc:sldMkLst>
      </pc:sldChg>
      <pc:sldChg chg="add">
        <pc:chgData name="Oleg Matvisiv" userId="feedb27e-61fc-49a7-8a39-16ebc3458eaf" providerId="ADAL" clId="{FC028970-D625-467D-9E56-C1AC096FAB21}" dt="2026-07-09T14:43:55.622" v="2"/>
        <pc:sldMkLst>
          <pc:docMk/>
          <pc:sldMk cId="0" sldId="274"/>
        </pc:sldMkLst>
      </pc:sldChg>
      <pc:sldChg chg="add">
        <pc:chgData name="Oleg Matvisiv" userId="feedb27e-61fc-49a7-8a39-16ebc3458eaf" providerId="ADAL" clId="{FC028970-D625-467D-9E56-C1AC096FAB21}" dt="2026-07-09T14:43:55.622" v="2"/>
        <pc:sldMkLst>
          <pc:docMk/>
          <pc:sldMk cId="0" sldId="275"/>
        </pc:sldMkLst>
      </pc:sldChg>
      <pc:sldChg chg="add">
        <pc:chgData name="Oleg Matvisiv" userId="feedb27e-61fc-49a7-8a39-16ebc3458eaf" providerId="ADAL" clId="{FC028970-D625-467D-9E56-C1AC096FAB21}" dt="2026-07-09T14:43:55.622" v="2"/>
        <pc:sldMkLst>
          <pc:docMk/>
          <pc:sldMk cId="0" sldId="276"/>
        </pc:sldMkLst>
      </pc:sldChg>
      <pc:sldChg chg="add">
        <pc:chgData name="Oleg Matvisiv" userId="feedb27e-61fc-49a7-8a39-16ebc3458eaf" providerId="ADAL" clId="{FC028970-D625-467D-9E56-C1AC096FAB21}" dt="2026-07-09T14:43:55.622" v="2"/>
        <pc:sldMkLst>
          <pc:docMk/>
          <pc:sldMk cId="0" sldId="277"/>
        </pc:sldMkLst>
      </pc:sldChg>
      <pc:sldChg chg="add">
        <pc:chgData name="Oleg Matvisiv" userId="feedb27e-61fc-49a7-8a39-16ebc3458eaf" providerId="ADAL" clId="{FC028970-D625-467D-9E56-C1AC096FAB21}" dt="2026-07-09T14:43:55.622" v="2"/>
        <pc:sldMkLst>
          <pc:docMk/>
          <pc:sldMk cId="0" sldId="278"/>
        </pc:sldMkLst>
      </pc:sldChg>
      <pc:sldChg chg="add">
        <pc:chgData name="Oleg Matvisiv" userId="feedb27e-61fc-49a7-8a39-16ebc3458eaf" providerId="ADAL" clId="{FC028970-D625-467D-9E56-C1AC096FAB21}" dt="2026-07-09T14:43:55.622" v="2"/>
        <pc:sldMkLst>
          <pc:docMk/>
          <pc:sldMk cId="0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Кір у дітей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Сучасні аспекти діагностики, лікування та профілактики</a:t>
            </a:r>
          </a:p>
          <a:p>
            <a:r>
              <a:t>Для практикуючих лікарів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Актуальність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Кір — одна з найбільш контагіозних інфекцій.</a:t>
            </a:r>
          </a:p>
          <a:p>
            <a:pPr>
              <a:defRPr sz="2200"/>
            </a:pPr>
            <a:r>
              <a:t>• R₀: 12–18.</a:t>
            </a:r>
          </a:p>
          <a:p>
            <a:pPr>
              <a:defRPr sz="2200"/>
            </a:pPr>
            <a:r>
              <a:t>• Основна причина тяжких випадків — відсутність вакцинації.</a:t>
            </a:r>
          </a:p>
          <a:p>
            <a:pPr>
              <a:defRPr sz="2200"/>
            </a:pPr>
            <a:r>
              <a:t>• Спалахи виникають при зниженні охоплення КПК.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Епідеміологічна ситуація у світі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У світі зберігається висока захворюваність.</a:t>
            </a:r>
          </a:p>
          <a:p>
            <a:pPr>
              <a:defRPr sz="2200"/>
            </a:pPr>
            <a:r>
              <a:t>• Найбільше страждають невакциновані діти.</a:t>
            </a:r>
          </a:p>
          <a:p>
            <a:pPr>
              <a:defRPr sz="2200"/>
            </a:pPr>
            <a:r>
              <a:t>• Спалахи пов'язані зі зниженням охоплення вакцинацією.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Кір в Україні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Реєструється зростання випадків.</a:t>
            </a:r>
          </a:p>
          <a:p>
            <a:pPr>
              <a:defRPr sz="2200"/>
            </a:pPr>
            <a:r>
              <a:t>• Найбільше хворіють невакциновані діти.</a:t>
            </a:r>
          </a:p>
          <a:p>
            <a:pPr>
              <a:defRPr sz="2200"/>
            </a:pPr>
            <a:r>
              <a:t>• Регіональні спалахи пов'язані з недостатнім охопленням КПК.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Визначення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Гостре висококонтагіозне вірусне захворювання, що характеризується гарячкою, катаральним синдромом, кон'юнктивітом, плямами Копліка та етапним макуло-папульозним висипом.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Збудник: Measles virus (Morbillivirus, Paramyxoviridae).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Етіологія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РНК-вірус.</a:t>
            </a:r>
          </a:p>
          <a:p>
            <a:pPr>
              <a:defRPr sz="2200"/>
            </a:pPr>
            <a:r>
              <a:t>• Один серотип.</a:t>
            </a:r>
          </a:p>
          <a:p>
            <a:pPr>
              <a:defRPr sz="2200"/>
            </a:pPr>
            <a:r>
              <a:t>• Єдиний резервуар — людина.</a:t>
            </a:r>
          </a:p>
          <a:p>
            <a:pPr>
              <a:defRPr sz="2200"/>
            </a:pPr>
            <a:r>
              <a:t>• Передається повітряно-крапельним шляхом.</a:t>
            </a:r>
          </a:p>
          <a:p>
            <a:pPr>
              <a:defRPr sz="2200"/>
            </a:pPr>
            <a:r>
              <a:t>• Аерозоль може зберігатися у повітрі до 2 годин.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Епідеміологія: джерело інфекції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Єдине джерело інфекції — хвора людина.</a:t>
            </a:r>
          </a:p>
          <a:p>
            <a:pPr>
              <a:defRPr sz="2200"/>
            </a:pPr>
            <a:r>
              <a:t>• Найбільша заразність у катаральному періоді.</a:t>
            </a:r>
          </a:p>
          <a:p>
            <a:pPr>
              <a:defRPr sz="2200"/>
            </a:pPr>
            <a:r>
              <a:t>• Людина — єдиний природний резервуар вірусу.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Механізм передачі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Повітряно-крапельний шлях.</a:t>
            </a:r>
          </a:p>
          <a:p>
            <a:pPr>
              <a:defRPr sz="2200"/>
            </a:pPr>
            <a:r>
              <a:t>• Передача при кашлі, чханні, розмові.</a:t>
            </a:r>
          </a:p>
          <a:p>
            <a:pPr>
              <a:defRPr sz="2200"/>
            </a:pPr>
            <a:r>
              <a:t>• Аерозоль може зберігатися у повітрі до 2 годин.</a:t>
            </a:r>
          </a:p>
          <a:p>
            <a:pPr>
              <a:defRPr sz="2200"/>
            </a:pPr>
            <a:r>
              <a:t>• Майже всі неімунні контактні особи інфікуються.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Період заразності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Від 4 діб до появи висипу.</a:t>
            </a:r>
          </a:p>
          <a:p>
            <a:pPr>
              <a:defRPr sz="2200"/>
            </a:pPr>
            <a:r>
              <a:t>• До 4 діб після появи висипу.</a:t>
            </a:r>
          </a:p>
          <a:p>
            <a:pPr>
              <a:defRPr sz="2200"/>
            </a:pPr>
            <a:r>
              <a:t>• При імунодефіциті можливе довше виділення вірусу.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Інкубаційний період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7–21 день.</a:t>
            </a:r>
          </a:p>
          <a:p>
            <a:pPr>
              <a:defRPr sz="2200"/>
            </a:pPr>
            <a:r>
              <a:t>• Найчастіше 10–14 днів.</a:t>
            </a:r>
          </a:p>
          <a:p>
            <a:pPr>
              <a:defRPr sz="2200"/>
            </a:pPr>
            <a:r>
              <a:t>• Після введення імуноглобуліну — до 28 діб.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Патогенез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Проникнення через слизову дихальних шляхів.</a:t>
            </a:r>
          </a:p>
          <a:p>
            <a:pPr>
              <a:defRPr sz="2200"/>
            </a:pPr>
            <a:r>
              <a:t>2. Реплікація у дендритних клітинах і макрофагах.</a:t>
            </a:r>
          </a:p>
          <a:p>
            <a:pPr>
              <a:defRPr sz="2200"/>
            </a:pPr>
            <a:r>
              <a:t>3. Первинна та вторинна віремія.</a:t>
            </a:r>
          </a:p>
          <a:p>
            <a:pPr>
              <a:defRPr sz="2200"/>
            </a:pPr>
            <a:r>
              <a:t>4. Ураження шкіри, слизових, легень, ЦНС.</a:t>
            </a:r>
          </a:p>
          <a:p>
            <a:pPr>
              <a:defRPr sz="2200"/>
            </a:pPr>
            <a:r>
              <a:t>5. Транзиторна імуносупресія.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Класифікація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Типові форми: легка, середньотяжка, тяжка.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Атипові: мітігований кір, modified measles, кір при імунодефіциті.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Перебіг: неускладнений та ускладнений.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Катаральний період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Триває 2–4 доби.</a:t>
            </a:r>
          </a:p>
          <a:p>
            <a:pPr>
              <a:defRPr sz="2200"/>
            </a:pPr>
            <a:r>
              <a:t>• Гарячка, кашель, нежить.</a:t>
            </a:r>
          </a:p>
          <a:p>
            <a:pPr>
              <a:defRPr sz="2200"/>
            </a:pPr>
            <a:r>
              <a:t>• Кон'юнктивіт, світлобоязнь.</a:t>
            </a:r>
          </a:p>
          <a:p>
            <a:pPr>
              <a:defRPr sz="2200"/>
            </a:pPr>
            <a:r>
              <a:t>• Інтоксикація.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Плями Копліка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З'являються за 1–2 доби до висипу.</a:t>
            </a:r>
          </a:p>
          <a:p>
            <a:pPr>
              <a:defRPr sz="2200"/>
            </a:pPr>
            <a:r>
              <a:t>• На слизовій щік навпроти малих кутніх зубів.</a:t>
            </a:r>
          </a:p>
          <a:p>
            <a:pPr>
              <a:defRPr sz="2200"/>
            </a:pPr>
            <a:r>
              <a:t>• Патогномонічна ознака кору.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[Місце для клінічного фото]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Період висипань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Висип макуло-папульозний.</a:t>
            </a:r>
          </a:p>
          <a:p>
            <a:pPr>
              <a:defRPr sz="2200"/>
            </a:pPr>
            <a:r>
              <a:t>• Етапність: обличчя → тулуб → кінцівки.</a:t>
            </a:r>
          </a:p>
          <a:p>
            <a:pPr>
              <a:defRPr sz="2200"/>
            </a:pPr>
            <a:r>
              <a:t>• Схильність до злиття.</a:t>
            </a:r>
          </a:p>
          <a:p>
            <a:pPr>
              <a:defRPr sz="2200"/>
            </a:pPr>
            <a:r>
              <a:t>• Гарячка зберігається.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Кон'юнктивіт та клінічні прояви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Двобічний кон'юнктивіт.</a:t>
            </a:r>
          </a:p>
          <a:p>
            <a:pPr>
              <a:defRPr sz="2200"/>
            </a:pPr>
            <a:r>
              <a:t>• Сльозотеча.</a:t>
            </a:r>
          </a:p>
          <a:p>
            <a:pPr>
              <a:defRPr sz="2200"/>
            </a:pPr>
            <a:r>
              <a:t>• Світлобоязнь.</a:t>
            </a:r>
          </a:p>
          <a:p>
            <a:pPr>
              <a:defRPr sz="2200"/>
            </a:pPr>
            <a:r>
              <a:t>• Гіперемія кон'юнктив.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[Місце для фото]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Ускладнення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Отит.</a:t>
            </a:r>
          </a:p>
          <a:p>
            <a:pPr>
              <a:defRPr sz="2200"/>
            </a:pPr>
            <a:r>
              <a:t>• Пневмонія.</a:t>
            </a:r>
          </a:p>
          <a:p>
            <a:pPr>
              <a:defRPr sz="2200"/>
            </a:pPr>
            <a:r>
              <a:t>• Ларинготрахеїт.</a:t>
            </a:r>
          </a:p>
          <a:p>
            <a:pPr>
              <a:defRPr sz="2200"/>
            </a:pPr>
            <a:r>
              <a:t>• Діарея.</a:t>
            </a:r>
          </a:p>
          <a:p>
            <a:pPr>
              <a:defRPr sz="2200"/>
            </a:pPr>
            <a:r>
              <a:t>• Енцефаліт.</a:t>
            </a:r>
          </a:p>
          <a:p>
            <a:pPr>
              <a:defRPr sz="2200"/>
            </a:pPr>
            <a:r>
              <a:t>• Підгострий склерозуючий паненцефаліт.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Групи високого ризику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Діти до 5 років.</a:t>
            </a:r>
          </a:p>
          <a:p>
            <a:pPr>
              <a:defRPr sz="2200"/>
            </a:pPr>
            <a:r>
              <a:t>• Немовлята.</a:t>
            </a:r>
          </a:p>
          <a:p>
            <a:pPr>
              <a:defRPr sz="2200"/>
            </a:pPr>
            <a:r>
              <a:t>• Вагітні.</a:t>
            </a:r>
          </a:p>
          <a:p>
            <a:pPr>
              <a:defRPr sz="2200"/>
            </a:pPr>
            <a:r>
              <a:t>• Імунодефіцитні пацієнти.</a:t>
            </a:r>
          </a:p>
          <a:p>
            <a:pPr>
              <a:defRPr sz="2200"/>
            </a:pPr>
            <a:r>
              <a:t>• Невакциновані особи.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Лабораторна діагностика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Загальний аналіз крові: лейкопенія, лімфопенія.</a:t>
            </a:r>
          </a:p>
          <a:p>
            <a:pPr>
              <a:defRPr sz="2200"/>
            </a:pPr>
            <a:r>
              <a:t>• IgM до вірусу кору.</a:t>
            </a:r>
          </a:p>
          <a:p>
            <a:pPr>
              <a:defRPr sz="2200"/>
            </a:pPr>
            <a:r>
              <a:t>• Наростання IgG у парних сироватках.</a:t>
            </a:r>
          </a:p>
          <a:p>
            <a:pPr>
              <a:defRPr sz="2200"/>
            </a:pPr>
            <a:r>
              <a:t>• ПЛР із мазка із носоглотки, сечі або крові.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Диференційна діагностика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Краснуха.</a:t>
            </a:r>
          </a:p>
          <a:p>
            <a:pPr>
              <a:defRPr sz="2200"/>
            </a:pPr>
            <a:r>
              <a:t>• Скарлатина.</a:t>
            </a:r>
          </a:p>
          <a:p>
            <a:pPr>
              <a:defRPr sz="2200"/>
            </a:pPr>
            <a:r>
              <a:t>• Розеола.</a:t>
            </a:r>
          </a:p>
          <a:p>
            <a:pPr>
              <a:defRPr sz="2200"/>
            </a:pPr>
            <a:r>
              <a:t>• Парвовірус B19.</a:t>
            </a:r>
          </a:p>
          <a:p>
            <a:pPr>
              <a:defRPr sz="2200"/>
            </a:pPr>
            <a:r>
              <a:t>• Ентеровірусні екзантеми.</a:t>
            </a:r>
          </a:p>
          <a:p>
            <a:pPr>
              <a:defRPr sz="2200"/>
            </a:pPr>
            <a:r>
              <a:t>• Медикаментозна екзантема.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Лікування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Ізоляція.</a:t>
            </a:r>
          </a:p>
          <a:p>
            <a:pPr>
              <a:defRPr sz="2200"/>
            </a:pPr>
            <a:r>
              <a:t>• Регідратація.</a:t>
            </a:r>
          </a:p>
          <a:p>
            <a:pPr>
              <a:defRPr sz="2200"/>
            </a:pPr>
            <a:r>
              <a:t>• Жарознижувальні засоби.</a:t>
            </a:r>
          </a:p>
          <a:p>
            <a:pPr>
              <a:defRPr sz="2200"/>
            </a:pPr>
            <a:r>
              <a:t>• Лікування бактеріальних ускладнень за показаннями.</a:t>
            </a:r>
          </a:p>
          <a:p>
            <a:pPr>
              <a:defRPr sz="2200"/>
            </a:pPr>
            <a:r>
              <a:t>• Антибіотики не показані при неускладненому корі.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Вітамін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Рекомендований дітям із кором.</a:t>
            </a:r>
          </a:p>
          <a:p>
            <a:pPr>
              <a:defRPr sz="2200"/>
            </a:pPr>
            <a:r>
              <a:t>• До 6 міс — 50 000 МО.</a:t>
            </a:r>
          </a:p>
          <a:p>
            <a:pPr>
              <a:defRPr sz="2200"/>
            </a:pPr>
            <a:r>
              <a:t>• 6–11 міс — 100 000 МО.</a:t>
            </a:r>
          </a:p>
          <a:p>
            <a:pPr>
              <a:defRPr sz="2200"/>
            </a:pPr>
            <a:r>
              <a:t>• ≥12 міс — 200 000 МО.</a:t>
            </a:r>
          </a:p>
          <a:p>
            <a:pPr>
              <a:defRPr sz="2200"/>
            </a:pPr>
            <a:r>
              <a:t>Повторна доза через 24 години.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Профілактика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Вакцинація КПК.</a:t>
            </a:r>
          </a:p>
          <a:p>
            <a:pPr>
              <a:defRPr sz="2200"/>
            </a:pPr>
            <a:r>
              <a:t>• Ізоляція хворих.</a:t>
            </a:r>
          </a:p>
          <a:p>
            <a:pPr>
              <a:defRPr sz="2200"/>
            </a:pPr>
            <a:r>
              <a:t>• Постконтактна профілактика.</a:t>
            </a:r>
          </a:p>
          <a:p>
            <a:pPr>
              <a:defRPr sz="2200"/>
            </a:pPr>
            <a:r>
              <a:t>• Епідеміологічний нагляд.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Кір залишається небезпечною інфекцією.</a:t>
            </a:r>
          </a:p>
          <a:p>
            <a:pPr>
              <a:defRPr sz="2200"/>
            </a:pPr>
            <a:r>
              <a:t>• Рання діагностика зменшує ризик поширення.</a:t>
            </a:r>
          </a:p>
          <a:p>
            <a:pPr>
              <a:defRPr sz="2200"/>
            </a:pPr>
            <a:r>
              <a:t>• Вакцинація — найефективніший метод профілактики.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633</Words>
  <Application>Microsoft Office PowerPoint</Application>
  <PresentationFormat>On-screen Show (4:3)</PresentationFormat>
  <Paragraphs>124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Кір у дітей</vt:lpstr>
      <vt:lpstr>Актуальність</vt:lpstr>
      <vt:lpstr>Епідеміологічна ситуація у світі</vt:lpstr>
      <vt:lpstr>Кір в Україні</vt:lpstr>
      <vt:lpstr>Визначення</vt:lpstr>
      <vt:lpstr>Етіологія</vt:lpstr>
      <vt:lpstr>Епідеміологія: джерело інфекції</vt:lpstr>
      <vt:lpstr>Механізм передачі</vt:lpstr>
      <vt:lpstr>Період заразності</vt:lpstr>
      <vt:lpstr>Інкубаційний період</vt:lpstr>
      <vt:lpstr>Патогенез</vt:lpstr>
      <vt:lpstr>Класифікація</vt:lpstr>
      <vt:lpstr>Катаральний період</vt:lpstr>
      <vt:lpstr>Плями Копліка</vt:lpstr>
      <vt:lpstr>Період висипань</vt:lpstr>
      <vt:lpstr>Кон'юнктивіт та клінічні прояви</vt:lpstr>
      <vt:lpstr>Ускладнення</vt:lpstr>
      <vt:lpstr>Групи високого ризику</vt:lpstr>
      <vt:lpstr>Лабораторна діагностика</vt:lpstr>
      <vt:lpstr>Диференційна діагностика</vt:lpstr>
      <vt:lpstr>Лікування</vt:lpstr>
      <vt:lpstr>Вітамін A</vt:lpstr>
      <vt:lpstr>Профілактика</vt:lpstr>
      <vt:lpstr>Висновки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Oleg Matvisiv</cp:lastModifiedBy>
  <cp:revision>1</cp:revision>
  <dcterms:created xsi:type="dcterms:W3CDTF">2013-01-27T09:14:16Z</dcterms:created>
  <dcterms:modified xsi:type="dcterms:W3CDTF">2026-07-09T14:44:01Z</dcterms:modified>
  <cp:category/>
</cp:coreProperties>
</file>